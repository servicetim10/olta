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3" r:id="rId3"/>
    <p:sldId id="264" r:id="rId4"/>
  </p:sldIdLst>
  <p:sldSz cx="18288000" cy="10287000"/>
  <p:notesSz cx="6858000" cy="9144000"/>
  <p:embeddedFontLst>
    <p:embeddedFont>
      <p:font typeface="Cambria" panose="02040503050406030204" pitchFamily="18" charset="0"/>
      <p:regular r:id="rId5"/>
      <p:bold r:id="rId6"/>
      <p:italic r:id="rId7"/>
      <p:boldItalic r:id="rId8"/>
    </p:embeddedFont>
    <p:embeddedFont>
      <p:font typeface="Cambria Bold" panose="02040803050406030204" pitchFamily="18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268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6029040522679295E-2"/>
          <c:y val="7.652543558434996E-2"/>
          <c:w val="0.96521996504613539"/>
          <c:h val="0.838593457510508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Invii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Foglio1!$A$2:$A$10</c:f>
              <c:strCache>
                <c:ptCount val="9"/>
                <c:pt idx="0">
                  <c:v>ADAC</c:v>
                </c:pt>
                <c:pt idx="1">
                  <c:v>AFERRY</c:v>
                </c:pt>
                <c:pt idx="2">
                  <c:v>ALLOFERRY</c:v>
                </c:pt>
                <c:pt idx="3">
                  <c:v>DIRECT FERRIES</c:v>
                </c:pt>
                <c:pt idx="4">
                  <c:v>FERRY HOPPER</c:v>
                </c:pt>
                <c:pt idx="5">
                  <c:v>LA CENTRALE DES FERRIES</c:v>
                </c:pt>
                <c:pt idx="6">
                  <c:v>NETFERRY</c:v>
                </c:pt>
                <c:pt idx="7">
                  <c:v>TRAGHETTIPER</c:v>
                </c:pt>
                <c:pt idx="8">
                  <c:v>TRAGHETTI.COM</c:v>
                </c:pt>
              </c:strCache>
            </c:strRef>
          </c:cat>
          <c:val>
            <c:numRef>
              <c:f>Foglio1!$B$2:$B$10</c:f>
              <c:numCache>
                <c:formatCode>General</c:formatCode>
                <c:ptCount val="9"/>
              </c:numCache>
            </c:numRef>
          </c:val>
          <c:extLst>
            <c:ext xmlns:c16="http://schemas.microsoft.com/office/drawing/2014/chart" uri="{C3380CC4-5D6E-409C-BE32-E72D297353CC}">
              <c16:uniqueId val="{00000000-F231-4B56-92D8-88A0FE98C2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22282696"/>
        <c:axId val="522280896"/>
      </c:barChart>
      <c:catAx>
        <c:axId val="522282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522280896"/>
        <c:crosses val="autoZero"/>
        <c:auto val="1"/>
        <c:lblAlgn val="ctr"/>
        <c:lblOffset val="100"/>
        <c:noMultiLvlLbl val="0"/>
      </c:catAx>
      <c:valAx>
        <c:axId val="522280896"/>
        <c:scaling>
          <c:orientation val="minMax"/>
          <c:max val="3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522282696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5132" y="3903564"/>
            <a:ext cx="13741128" cy="1464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199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OLTA Newsletter</a:t>
            </a:r>
          </a:p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Analisi settimanale - Week [numero Settimana]</a:t>
            </a:r>
          </a:p>
        </p:txBody>
      </p:sp>
      <p:sp>
        <p:nvSpPr>
          <p:cNvPr id="3" name="Freeform 3"/>
          <p:cNvSpPr/>
          <p:nvPr/>
        </p:nvSpPr>
        <p:spPr>
          <a:xfrm>
            <a:off x="836668" y="8905753"/>
            <a:ext cx="16511607" cy="41279"/>
          </a:xfrm>
          <a:custGeom>
            <a:avLst/>
            <a:gdLst/>
            <a:ahLst/>
            <a:cxnLst/>
            <a:rect l="l" t="t" r="r" b="b"/>
            <a:pathLst>
              <a:path w="16511607" h="41279">
                <a:moveTo>
                  <a:pt x="0" y="0"/>
                </a:moveTo>
                <a:lnTo>
                  <a:pt x="16511607" y="0"/>
                </a:lnTo>
                <a:lnTo>
                  <a:pt x="16511607" y="41279"/>
                </a:lnTo>
                <a:lnTo>
                  <a:pt x="0" y="41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05132" y="5722582"/>
            <a:ext cx="13741128" cy="456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lunedì gg/mm/aaaa - domenica gg/mm/aaaa</a:t>
            </a:r>
          </a:p>
        </p:txBody>
      </p:sp>
      <p:sp>
        <p:nvSpPr>
          <p:cNvPr id="5" name="Freeform 5"/>
          <p:cNvSpPr/>
          <p:nvPr/>
        </p:nvSpPr>
        <p:spPr>
          <a:xfrm>
            <a:off x="368587" y="301462"/>
            <a:ext cx="1394367" cy="697184"/>
          </a:xfrm>
          <a:custGeom>
            <a:avLst/>
            <a:gdLst/>
            <a:ahLst/>
            <a:cxnLst/>
            <a:rect l="l" t="t" r="r" b="b"/>
            <a:pathLst>
              <a:path w="1394367" h="697184">
                <a:moveTo>
                  <a:pt x="0" y="0"/>
                </a:moveTo>
                <a:lnTo>
                  <a:pt x="1394367" y="0"/>
                </a:lnTo>
                <a:lnTo>
                  <a:pt x="1394367" y="697184"/>
                </a:lnTo>
                <a:lnTo>
                  <a:pt x="0" y="697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08573" y="378000"/>
            <a:ext cx="1487273" cy="544108"/>
          </a:xfrm>
          <a:custGeom>
            <a:avLst/>
            <a:gdLst/>
            <a:ahLst/>
            <a:cxnLst/>
            <a:rect l="l" t="t" r="r" b="b"/>
            <a:pathLst>
              <a:path w="1487273" h="544108">
                <a:moveTo>
                  <a:pt x="0" y="0"/>
                </a:moveTo>
                <a:lnTo>
                  <a:pt x="1487273" y="0"/>
                </a:lnTo>
                <a:lnTo>
                  <a:pt x="1487273" y="544108"/>
                </a:lnTo>
                <a:lnTo>
                  <a:pt x="0" y="5441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6114" t="-565510" r="-111539" b="-93432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9E685-43FB-EEFD-84EA-9989961CD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04D21094-E925-6FE0-84F0-68AB8D3F479B}"/>
              </a:ext>
            </a:extLst>
          </p:cNvPr>
          <p:cNvGrpSpPr/>
          <p:nvPr/>
        </p:nvGrpSpPr>
        <p:grpSpPr>
          <a:xfrm>
            <a:off x="743248" y="477911"/>
            <a:ext cx="213915" cy="1313914"/>
            <a:chOff x="0" y="0"/>
            <a:chExt cx="56340" cy="346052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6836EE-374C-95D6-4E30-7DFCBF007CDC}"/>
                </a:ext>
              </a:extLst>
            </p:cNvPr>
            <p:cNvSpPr/>
            <p:nvPr/>
          </p:nvSpPr>
          <p:spPr>
            <a:xfrm>
              <a:off x="0" y="0"/>
              <a:ext cx="56340" cy="346052"/>
            </a:xfrm>
            <a:custGeom>
              <a:avLst/>
              <a:gdLst/>
              <a:ahLst/>
              <a:cxnLst/>
              <a:rect l="l" t="t" r="r" b="b"/>
              <a:pathLst>
                <a:path w="56340" h="346052">
                  <a:moveTo>
                    <a:pt x="0" y="0"/>
                  </a:moveTo>
                  <a:lnTo>
                    <a:pt x="56340" y="0"/>
                  </a:lnTo>
                  <a:lnTo>
                    <a:pt x="56340" y="346052"/>
                  </a:lnTo>
                  <a:lnTo>
                    <a:pt x="0" y="346052"/>
                  </a:lnTo>
                  <a:close/>
                </a:path>
              </a:pathLst>
            </a:custGeom>
            <a:solidFill>
              <a:srgbClr val="2E5CAF"/>
            </a:soli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A55E6BE-625B-9FA1-DB83-02FA17E85F02}"/>
                </a:ext>
              </a:extLst>
            </p:cNvPr>
            <p:cNvSpPr txBox="1"/>
            <p:nvPr/>
          </p:nvSpPr>
          <p:spPr>
            <a:xfrm>
              <a:off x="0" y="-38100"/>
              <a:ext cx="56340" cy="384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BB2D2EBE-B270-5491-72FE-77711AC28B79}"/>
              </a:ext>
            </a:extLst>
          </p:cNvPr>
          <p:cNvSpPr txBox="1"/>
          <p:nvPr/>
        </p:nvSpPr>
        <p:spPr>
          <a:xfrm>
            <a:off x="1028700" y="392186"/>
            <a:ext cx="13741128" cy="721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2E5CAF"/>
                </a:solidFill>
                <a:latin typeface="Cambria Bold"/>
                <a:ea typeface="Cambria Bold"/>
                <a:cs typeface="Cambria Bold"/>
                <a:sym typeface="Cambria Bold"/>
              </a:rPr>
              <a:t> Numero di comunicazioni inoltrate via email dalle OLTA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F42D313-5025-2669-AC06-F48258AE8152}"/>
              </a:ext>
            </a:extLst>
          </p:cNvPr>
          <p:cNvSpPr txBox="1"/>
          <p:nvPr/>
        </p:nvSpPr>
        <p:spPr>
          <a:xfrm>
            <a:off x="1215633" y="1254932"/>
            <a:ext cx="9111626" cy="56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Week [numero Settimana]</a:t>
            </a:r>
          </a:p>
        </p:txBody>
      </p:sp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44497C02-5D98-39AA-A998-CD002FA274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8203915"/>
              </p:ext>
            </p:extLst>
          </p:nvPr>
        </p:nvGraphicFramePr>
        <p:xfrm>
          <a:off x="953920" y="2147914"/>
          <a:ext cx="16649700" cy="7805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3462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786D1-D46D-BB4F-7283-462DA3F3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F32F92B5-786D-68CD-80D4-E1B2251A29F7}"/>
              </a:ext>
            </a:extLst>
          </p:cNvPr>
          <p:cNvGrpSpPr/>
          <p:nvPr/>
        </p:nvGrpSpPr>
        <p:grpSpPr>
          <a:xfrm>
            <a:off x="743248" y="477911"/>
            <a:ext cx="213915" cy="1313914"/>
            <a:chOff x="0" y="0"/>
            <a:chExt cx="56340" cy="34605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B1AA382-DD94-3176-0BF0-D106105AE9FB}"/>
                </a:ext>
              </a:extLst>
            </p:cNvPr>
            <p:cNvSpPr/>
            <p:nvPr/>
          </p:nvSpPr>
          <p:spPr>
            <a:xfrm>
              <a:off x="0" y="0"/>
              <a:ext cx="56340" cy="346052"/>
            </a:xfrm>
            <a:custGeom>
              <a:avLst/>
              <a:gdLst/>
              <a:ahLst/>
              <a:cxnLst/>
              <a:rect l="l" t="t" r="r" b="b"/>
              <a:pathLst>
                <a:path w="56340" h="346052">
                  <a:moveTo>
                    <a:pt x="0" y="0"/>
                  </a:moveTo>
                  <a:lnTo>
                    <a:pt x="56340" y="0"/>
                  </a:lnTo>
                  <a:lnTo>
                    <a:pt x="56340" y="346052"/>
                  </a:lnTo>
                  <a:lnTo>
                    <a:pt x="0" y="346052"/>
                  </a:lnTo>
                  <a:close/>
                </a:path>
              </a:pathLst>
            </a:custGeom>
            <a:solidFill>
              <a:srgbClr val="2E5CAF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CB36619-F5ED-B8BE-B908-DAE436179987}"/>
                </a:ext>
              </a:extLst>
            </p:cNvPr>
            <p:cNvSpPr txBox="1"/>
            <p:nvPr/>
          </p:nvSpPr>
          <p:spPr>
            <a:xfrm>
              <a:off x="0" y="-38100"/>
              <a:ext cx="56340" cy="384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335081B3-57C3-81BA-5FED-EA0BA70018B6}"/>
              </a:ext>
            </a:extLst>
          </p:cNvPr>
          <p:cNvSpPr txBox="1"/>
          <p:nvPr/>
        </p:nvSpPr>
        <p:spPr>
          <a:xfrm>
            <a:off x="1215632" y="1254932"/>
            <a:ext cx="11357367" cy="560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Newsletter gg/mm/aaaa – [tipologia newsletter]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5B62197C-F034-EB8C-7570-DEC371819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59606"/>
              </p:ext>
            </p:extLst>
          </p:nvPr>
        </p:nvGraphicFramePr>
        <p:xfrm>
          <a:off x="1215632" y="2400300"/>
          <a:ext cx="15853167" cy="685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389">
                  <a:extLst>
                    <a:ext uri="{9D8B030D-6E8A-4147-A177-3AD203B41FA5}">
                      <a16:colId xmlns:a16="http://schemas.microsoft.com/office/drawing/2014/main" val="518388766"/>
                    </a:ext>
                  </a:extLst>
                </a:gridCol>
                <a:gridCol w="5284389">
                  <a:extLst>
                    <a:ext uri="{9D8B030D-6E8A-4147-A177-3AD203B41FA5}">
                      <a16:colId xmlns:a16="http://schemas.microsoft.com/office/drawing/2014/main" val="609997567"/>
                    </a:ext>
                  </a:extLst>
                </a:gridCol>
                <a:gridCol w="5284389">
                  <a:extLst>
                    <a:ext uri="{9D8B030D-6E8A-4147-A177-3AD203B41FA5}">
                      <a16:colId xmlns:a16="http://schemas.microsoft.com/office/drawing/2014/main" val="1469226224"/>
                    </a:ext>
                  </a:extLst>
                </a:gridCol>
              </a:tblGrid>
              <a:tr h="871205">
                <a:tc>
                  <a:txBody>
                    <a:bodyPr/>
                    <a:lstStyle/>
                    <a:p>
                      <a:pPr algn="ctr"/>
                      <a:r>
                        <a:rPr lang="it-IT" sz="2400"/>
                        <a:t>COMPAGNIA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3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/>
                        <a:t>DESTINAZIONE / TRATTA / MERCATO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3B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400"/>
                        <a:t>SCONTO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3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815428"/>
                  </a:ext>
                </a:extLst>
              </a:tr>
              <a:tr h="1200648"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851577"/>
                  </a:ext>
                </a:extLst>
              </a:tr>
              <a:tr h="1200648"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722448"/>
                  </a:ext>
                </a:extLst>
              </a:tr>
              <a:tr h="1200648"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407982"/>
                  </a:ext>
                </a:extLst>
              </a:tr>
              <a:tr h="1200648"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174548"/>
                  </a:ext>
                </a:extLst>
              </a:tr>
              <a:tr h="1184202"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704232"/>
                  </a:ext>
                </a:extLst>
              </a:tr>
            </a:tbl>
          </a:graphicData>
        </a:graphic>
      </p:graphicFrame>
      <p:sp>
        <p:nvSpPr>
          <p:cNvPr id="9" name="TextBox 7">
            <a:extLst>
              <a:ext uri="{FF2B5EF4-FFF2-40B4-BE49-F238E27FC236}">
                <a16:creationId xmlns:a16="http://schemas.microsoft.com/office/drawing/2014/main" id="{0D86A1C7-FE87-EE5C-CF99-52FF79DA18A0}"/>
              </a:ext>
            </a:extLst>
          </p:cNvPr>
          <p:cNvSpPr txBox="1"/>
          <p:nvPr/>
        </p:nvSpPr>
        <p:spPr>
          <a:xfrm>
            <a:off x="1215633" y="544952"/>
            <a:ext cx="9111626" cy="56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[LOGO OLTA]</a:t>
            </a:r>
          </a:p>
        </p:txBody>
      </p:sp>
    </p:spTree>
    <p:extLst>
      <p:ext uri="{BB962C8B-B14F-4D97-AF65-F5344CB8AC3E}">
        <p14:creationId xmlns:p14="http://schemas.microsoft.com/office/powerpoint/2010/main" val="3127784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</Words>
  <Application>Microsoft Office PowerPoint</Application>
  <PresentationFormat>Personalizzato</PresentationFormat>
  <Paragraphs>10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Cambria</vt:lpstr>
      <vt:lpstr>Arial</vt:lpstr>
      <vt:lpstr>Cambria Bold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26 - Giugno 2026</dc:title>
  <cp:lastModifiedBy>Service | TIM 10 Srl</cp:lastModifiedBy>
  <cp:revision>4</cp:revision>
  <dcterms:created xsi:type="dcterms:W3CDTF">2006-08-16T00:00:00Z</dcterms:created>
  <dcterms:modified xsi:type="dcterms:W3CDTF">2026-07-01T15:43:56Z</dcterms:modified>
  <dc:identifier>DAHODs4VmNk</dc:identifier>
</cp:coreProperties>
</file>